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ita Saha [MAHE-MITBLR]" userId="0dc08423-e4fc-497b-a80f-28deb876a360" providerId="ADAL" clId="{AE46AE46-388A-4E9F-9688-3559E5DDCAB2}"/>
    <pc:docChg chg="custSel addSld modSld">
      <pc:chgData name="Jayita Saha [MAHE-MITBLR]" userId="0dc08423-e4fc-497b-a80f-28deb876a360" providerId="ADAL" clId="{AE46AE46-388A-4E9F-9688-3559E5DDCAB2}" dt="2025-05-08T10:10:06.549" v="123" actId="20577"/>
      <pc:docMkLst>
        <pc:docMk/>
      </pc:docMkLst>
      <pc:sldChg chg="modSp mod">
        <pc:chgData name="Jayita Saha [MAHE-MITBLR]" userId="0dc08423-e4fc-497b-a80f-28deb876a360" providerId="ADAL" clId="{AE46AE46-388A-4E9F-9688-3559E5DDCAB2}" dt="2025-05-08T10:08:07.649" v="7" actId="20577"/>
        <pc:sldMkLst>
          <pc:docMk/>
          <pc:sldMk cId="659389600" sldId="256"/>
        </pc:sldMkLst>
        <pc:spChg chg="mod">
          <ac:chgData name="Jayita Saha [MAHE-MITBLR]" userId="0dc08423-e4fc-497b-a80f-28deb876a360" providerId="ADAL" clId="{AE46AE46-388A-4E9F-9688-3559E5DDCAB2}" dt="2025-05-08T10:08:07.649" v="7" actId="20577"/>
          <ac:spMkLst>
            <pc:docMk/>
            <pc:sldMk cId="659389600" sldId="256"/>
            <ac:spMk id="6" creationId="{98FE461C-3DDE-807D-631A-DFF092E23443}"/>
          </ac:spMkLst>
        </pc:spChg>
      </pc:sldChg>
      <pc:sldChg chg="modSp mod">
        <pc:chgData name="Jayita Saha [MAHE-MITBLR]" userId="0dc08423-e4fc-497b-a80f-28deb876a360" providerId="ADAL" clId="{AE46AE46-388A-4E9F-9688-3559E5DDCAB2}" dt="2025-05-08T10:08:16.513" v="9" actId="27636"/>
        <pc:sldMkLst>
          <pc:docMk/>
          <pc:sldMk cId="2442296127" sldId="257"/>
        </pc:sldMkLst>
        <pc:spChg chg="mod">
          <ac:chgData name="Jayita Saha [MAHE-MITBLR]" userId="0dc08423-e4fc-497b-a80f-28deb876a360" providerId="ADAL" clId="{AE46AE46-388A-4E9F-9688-3559E5DDCAB2}" dt="2025-05-08T10:08:16.513" v="9" actId="27636"/>
          <ac:spMkLst>
            <pc:docMk/>
            <pc:sldMk cId="2442296127" sldId="257"/>
            <ac:spMk id="3" creationId="{66A90D84-822D-02BC-CDF3-7B9D2A521EFE}"/>
          </ac:spMkLst>
        </pc:spChg>
      </pc:sldChg>
      <pc:sldChg chg="modSp mod">
        <pc:chgData name="Jayita Saha [MAHE-MITBLR]" userId="0dc08423-e4fc-497b-a80f-28deb876a360" providerId="ADAL" clId="{AE46AE46-388A-4E9F-9688-3559E5DDCAB2}" dt="2025-05-08T10:09:40.924" v="70" actId="20577"/>
        <pc:sldMkLst>
          <pc:docMk/>
          <pc:sldMk cId="2977233156" sldId="260"/>
        </pc:sldMkLst>
        <pc:spChg chg="mod">
          <ac:chgData name="Jayita Saha [MAHE-MITBLR]" userId="0dc08423-e4fc-497b-a80f-28deb876a360" providerId="ADAL" clId="{AE46AE46-388A-4E9F-9688-3559E5DDCAB2}" dt="2025-05-08T10:09:40.924" v="70" actId="20577"/>
          <ac:spMkLst>
            <pc:docMk/>
            <pc:sldMk cId="2977233156" sldId="260"/>
            <ac:spMk id="3" creationId="{6D873C18-48C7-7676-64D1-AEFF46AA2FA7}"/>
          </ac:spMkLst>
        </pc:spChg>
      </pc:sldChg>
      <pc:sldChg chg="modSp new mod">
        <pc:chgData name="Jayita Saha [MAHE-MITBLR]" userId="0dc08423-e4fc-497b-a80f-28deb876a360" providerId="ADAL" clId="{AE46AE46-388A-4E9F-9688-3559E5DDCAB2}" dt="2025-05-08T10:10:06.549" v="123" actId="20577"/>
        <pc:sldMkLst>
          <pc:docMk/>
          <pc:sldMk cId="3521006235" sldId="261"/>
        </pc:sldMkLst>
        <pc:spChg chg="mod">
          <ac:chgData name="Jayita Saha [MAHE-MITBLR]" userId="0dc08423-e4fc-497b-a80f-28deb876a360" providerId="ADAL" clId="{AE46AE46-388A-4E9F-9688-3559E5DDCAB2}" dt="2025-05-08T10:10:06.549" v="123" actId="20577"/>
          <ac:spMkLst>
            <pc:docMk/>
            <pc:sldMk cId="3521006235" sldId="261"/>
            <ac:spMk id="2" creationId="{8D5C9270-7425-8754-559B-F7887A486049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72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2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29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6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5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9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4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05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3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0929-8126-6D5E-DBC8-026598A17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4478" y="1911843"/>
            <a:ext cx="8689976" cy="981073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301D2-211A-7B33-32B5-9BF44B2D1D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Name of  students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Registration No</a:t>
            </a:r>
          </a:p>
          <a:p>
            <a:r>
              <a:rPr lang="en-US" dirty="0"/>
              <a:t>Under Supervision (Name of Internal Guide with designation and affiliation)</a:t>
            </a:r>
          </a:p>
          <a:p>
            <a:endParaRPr lang="en-US" dirty="0"/>
          </a:p>
        </p:txBody>
      </p:sp>
      <p:pic>
        <p:nvPicPr>
          <p:cNvPr id="1027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DD76A44-6552-A47A-D46F-6102A5B6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FE461C-3DDE-807D-631A-DFF092E23443}"/>
              </a:ext>
            </a:extLst>
          </p:cNvPr>
          <p:cNvSpPr txBox="1"/>
          <p:nvPr/>
        </p:nvSpPr>
        <p:spPr>
          <a:xfrm>
            <a:off x="4327036" y="3151048"/>
            <a:ext cx="350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Exam:  Phase-1 Review</a:t>
            </a:r>
          </a:p>
        </p:txBody>
      </p:sp>
    </p:spTree>
    <p:extLst>
      <p:ext uri="{BB962C8B-B14F-4D97-AF65-F5344CB8AC3E}">
        <p14:creationId xmlns:p14="http://schemas.microsoft.com/office/powerpoint/2010/main" val="6593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FD27-0C71-B6CD-B2AC-8AAF1E7E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List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90D84-822D-02BC-CDF3-7B9D2A52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r>
              <a:rPr lang="en-GB" dirty="0"/>
              <a:t>1.Abstract</a:t>
            </a:r>
            <a:endParaRPr lang="en-IN" dirty="0"/>
          </a:p>
          <a:p>
            <a:r>
              <a:rPr lang="en-GB" dirty="0"/>
              <a:t>2.Introduction</a:t>
            </a:r>
            <a:endParaRPr lang="en-IN" dirty="0"/>
          </a:p>
          <a:p>
            <a:r>
              <a:rPr lang="en-GB" dirty="0"/>
              <a:t>3.Literature Review</a:t>
            </a:r>
            <a:endParaRPr lang="en-IN" dirty="0"/>
          </a:p>
          <a:p>
            <a:r>
              <a:rPr lang="en-GB" dirty="0"/>
              <a:t>4.Objectives</a:t>
            </a:r>
            <a:endParaRPr lang="en-IN" dirty="0"/>
          </a:p>
          <a:p>
            <a:r>
              <a:rPr lang="en-GB" dirty="0"/>
              <a:t>5.Methodology</a:t>
            </a:r>
            <a:endParaRPr lang="en-IN" dirty="0"/>
          </a:p>
          <a:p>
            <a:r>
              <a:rPr lang="en-GB" dirty="0"/>
              <a:t>6.Conclusion</a:t>
            </a:r>
            <a:endParaRPr lang="en-IN" dirty="0"/>
          </a:p>
          <a:p>
            <a:r>
              <a:rPr lang="en-GB" dirty="0"/>
              <a:t>7.References</a:t>
            </a:r>
            <a:endParaRPr lang="en-IN" dirty="0"/>
          </a:p>
          <a:p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DC31D46-8781-3C2C-C6D6-B6C0BEAA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9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068-29B0-E02B-42F5-4E70D285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0355-EAFD-C3CB-BAF6-3FAF36CA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10364452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                                     Thank you and QA</a:t>
            </a:r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96ED3AE-21A9-AAF9-6E5D-6E49D10BB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38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 wrap="square"/>
          <a:lstStyle/>
          <a:p>
            <a:pPr/>
            <a:r>
              <a:rPr sz="1800" b="1"/>
              <a:t>PitWall: a multi-agent, Retrieval-Augmented Generation (RAG) race-strategy assistant for Formula 1</a:t>
            </a:r>
          </a:p>
          <a:p>
            <a:pPr/>
            <a:r>
              <a:rPr sz="1800" b="0"/>
              <a:t>Hybrid data store: SQLite for exact race facts + ChromaDB (vector store) for semantic chunks of laps, weather, radio and pit-stop data</a:t>
            </a:r>
          </a:p>
          <a:p>
            <a:pPr/>
            <a:r>
              <a:rPr sz="1800" b="0"/>
              <a:t>Six specialist LLM agents — Tyre, Weather, Radio, Rivals, Circuit and Data (text-to-SQL) — each scoped to relevant collections</a:t>
            </a:r>
          </a:p>
          <a:p>
            <a:pPr/>
            <a:r>
              <a:rPr sz="1800" b="0"/>
              <a:t>An LLM Orchestrator semantically routes queries, runs agents in parallel, and synthesizes one evidence-grounded answer</a:t>
            </a:r>
          </a:p>
          <a:p>
            <a:pPr/>
            <a:r>
              <a:rPr sz="1800" b="0"/>
              <a:t>Delivered via a FastAPI backend and a React/TypeScript dashboard: pre-race briefs, post-race debriefs, results, standings and a strategy chat</a:t>
            </a:r>
          </a:p>
          <a:p>
            <a:pPr/>
            <a:r>
              <a:rPr sz="1800" b="0"/>
              <a:t>Phase-1 scope: full ingestion pipeline, hybrid store, agent architecture and working API/frontend covering the 2025 season (21 circuits) and early 2026 rounds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 wrap="square"/>
          <a:lstStyle/>
          <a:p>
            <a:pPr/>
            <a:r>
              <a:rPr sz="1800" b="1"/>
              <a:t>General area: motorsport analytics meets conversational AI (Retrieval-Augmented Generation)</a:t>
            </a:r>
          </a:p>
          <a:p>
            <a:pPr/>
            <a:r>
              <a:rPr sz="1800" b="1"/>
              <a:t>Present-day scenario</a:t>
            </a:r>
          </a:p>
          <a:p>
            <a:pPr lvl="1"/>
            <a:r>
              <a:rPr sz="1600" b="0"/>
              <a:t>F1 produces huge, multi-modal data per race weekend — telemetry, pit logs, weather, team radio</a:t>
            </a:r>
          </a:p>
          <a:p>
            <a:pPr lvl="1"/>
            <a:r>
              <a:rPr sz="1600" b="0"/>
              <a:t>Fans, analysts and engineers have no natural-language interface to query this data</a:t>
            </a:r>
          </a:p>
          <a:p>
            <a:pPr lvl="1"/>
            <a:r>
              <a:rPr sz="1600" b="0"/>
              <a:t>Generic single-LLM chatbots hallucinate on numeric / factual race questions</a:t>
            </a:r>
          </a:p>
          <a:p>
            <a:pPr/>
            <a:r>
              <a:rPr sz="1800" b="1"/>
              <a:t>Project schedule</a:t>
            </a:r>
          </a:p>
          <a:p>
            <a:pPr lvl="1"/>
            <a:r>
              <a:rPr sz="1600" b="0"/>
              <a:t>Phase 1 (completed): data ingestion pipeline, hybrid data store, agent architecture, FastAPI backend, working frontend</a:t>
            </a:r>
          </a:p>
          <a:p>
            <a:pPr lvl="1"/>
            <a:r>
              <a:rPr sz="1600" b="0"/>
              <a:t>Phase 2 (planned): live-timing integration, extended season coverage, UI refinement</a:t>
            </a:r>
          </a:p>
          <a:p>
            <a:pPr/>
            <a:r>
              <a:rPr sz="1800" b="1"/>
              <a:t>Report organization: Abstract → Introduction → Literature Review → Objectives → Methodology → Conclusion → References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 wrap="square"/>
          <a:lstStyle/>
          <a:p>
            <a:pPr/>
            <a:r>
              <a:rPr sz="1600" b="1"/>
              <a:t>Lewis et al., “Retrieval-Augmented Generation for Knowledge-Intensive NLP Tasks”, NeurIPS 2020</a:t>
            </a:r>
          </a:p>
          <a:p>
            <a:pPr lvl="1"/>
            <a:r>
              <a:rPr sz="1400" b="0"/>
              <a:t>Foundational retrieve-then-generate architecture — basis for PitWall's RAG pipeline</a:t>
            </a:r>
          </a:p>
          <a:p>
            <a:pPr/>
            <a:r>
              <a:rPr sz="1600" b="1"/>
              <a:t>“Large Language Model based Multi-Agents: A Survey of Progress and Challenges”, IJCAI 2024</a:t>
            </a:r>
          </a:p>
          <a:p>
            <a:pPr lvl="1"/>
            <a:r>
              <a:rPr sz="1400" b="0"/>
              <a:t>Taxonomy of agent profiling, communication and orchestration — informs PitWall's specialist-agent + Orchestrator design</a:t>
            </a:r>
          </a:p>
          <a:p>
            <a:pPr/>
            <a:r>
              <a:rPr sz="1600" b="1"/>
              <a:t>“A Survey on Employing Large Language Models for Text-to-SQL Tasks”, ACM Computing Surveys / arXiv:2407.15186, 2024</a:t>
            </a:r>
          </a:p>
          <a:p>
            <a:pPr lvl="1"/>
            <a:r>
              <a:rPr sz="1400" b="0"/>
              <a:t>Prompt-engineering and fine-tuning approaches for NL→SQL — basis for PitWall's DataAgent</a:t>
            </a:r>
          </a:p>
          <a:p>
            <a:pPr/>
            <a:r>
              <a:rPr sz="1600" b="1"/>
              <a:t>Massaro et al. (Mercedes-AMG PETRONAS F1), “Explainable Time Series Prediction of Tyre Energy in F1 Race Strategy”, ACM SAC 2025 / arXiv:2501.04067</a:t>
            </a:r>
          </a:p>
          <a:p>
            <a:pPr lvl="1"/>
            <a:r>
              <a:rPr sz="1400" b="0"/>
              <a:t>Deep-learning tyre-degradation forecasting from telemetry — validates the tyre-strategy features PitWall's TyreAgent reasons over</a:t>
            </a:r>
          </a:p>
          <a:p>
            <a:pPr/>
            <a:r>
              <a:rPr sz="1600" b="1"/>
              <a:t>“Data-driven pit stop decision support for Formula 1 using deep learning models”, Frontiers in AI, 2025</a:t>
            </a:r>
          </a:p>
          <a:p>
            <a:pPr lvl="1"/>
            <a:r>
              <a:rPr sz="1400" b="0"/>
              <a:t>Deep-learning pit-stop decision support — relevant to PitWall's pit-timing and tyre-strategy questions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Literature Review —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 wrap="square"/>
          <a:lstStyle/>
          <a:p>
            <a:pPr/>
            <a:r>
              <a:rPr sz="2000" b="0"/>
              <a:t>RAG literature targets generic knowledge-intensive NLP, not structured, fast-changing sports telemetry</a:t>
            </a:r>
          </a:p>
          <a:p>
            <a:pPr/>
            <a:r>
              <a:rPr sz="2000" b="0"/>
              <a:t>Multi-agent LLM surveys are domain-agnostic — no F1-specific specialist decomposition exists</a:t>
            </a:r>
          </a:p>
          <a:p>
            <a:pPr/>
            <a:r>
              <a:rPr sz="2000" b="0"/>
              <a:t>F1 machine-learning papers optimize a single predictive task (tyre energy, pit timing) — no conversational, evidence-grounded interface</a:t>
            </a:r>
          </a:p>
          <a:p>
            <a:pPr/>
            <a:r>
              <a:rPr sz="2000" b="1"/>
              <a:t>Identified gap: no system combines deterministic SQL analytics + multi-source semantic retrieval + multi-agent orchestration into one conversational F1 strategy assistant</a:t>
            </a:r>
          </a:p>
          <a:p>
            <a:pPr/>
            <a:r>
              <a:rPr sz="2000" b="1"/>
              <a:t>PitWall's contribution: a hybrid SQL + RAG multi-agent architecture purpose-built for this gap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 wrap="square"/>
          <a:lstStyle/>
          <a:p>
            <a:pPr/>
            <a:r>
              <a:rPr sz="2000" b="0"/>
              <a:t>Design and populate a hybrid data store (SQLite for deterministic facts, ChromaDB for semantic chunks) from FastF1 and transcribed team-radio audio</a:t>
            </a:r>
          </a:p>
          <a:p>
            <a:pPr/>
            <a:r>
              <a:rPr sz="2000" b="0"/>
              <a:t>Build specialist retrieval agents (tyre, weather, radio, rivals, circuit) scoped to relevant data collections</a:t>
            </a:r>
          </a:p>
          <a:p>
            <a:pPr/>
            <a:r>
              <a:rPr sz="2000" b="0"/>
              <a:t>Implement an LLM-based Orchestrator that semantically routes queries, runs agents in parallel, and synthesizes one non-contradictory answer with correct driver-name resolution</a:t>
            </a:r>
          </a:p>
          <a:p>
            <a:pPr/>
            <a:r>
              <a:rPr sz="2000" b="0"/>
              <a:t>Expose the system via a FastAPI backend and a race-strategy dashboard frontend (pre-race briefs, post-race debriefs, live chat)</a:t>
            </a:r>
          </a:p>
          <a:p>
            <a:pPr/>
            <a:r>
              <a:rPr sz="2000" b="0"/>
              <a:t>Evaluate the system's ability to answer both quantitative (SQL-backed) and qualitative (semantic) race-strategy questions accurately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Methodology —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1050" y="1750000"/>
            <a:ext cx="2050000" cy="950000"/>
          </a:xfrm>
          <a:prstGeom prst="roundRect">
            <a:avLst/>
          </a:prstGeom>
          <a:solidFill>
            <a:srgbClr val="1F3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Data Sources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(FastF1 API,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YouTube Radio)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91050" y="1750000"/>
            <a:ext cx="2050000" cy="950000"/>
          </a:xfrm>
          <a:prstGeom prst="roundRect">
            <a:avLst/>
          </a:prstGeom>
          <a:solidFill>
            <a:srgbClr val="1F3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Ingestion Pipeline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(ingest/*.py)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1050" y="1750000"/>
            <a:ext cx="2050000" cy="950000"/>
          </a:xfrm>
          <a:prstGeom prst="roundRect">
            <a:avLst/>
          </a:prstGeom>
          <a:solidFill>
            <a:srgbClr val="1F3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Hybrid Data Store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SQLite + ChromaDB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050" y="3450000"/>
            <a:ext cx="2050000" cy="950000"/>
          </a:xfrm>
          <a:prstGeom prst="roundRect">
            <a:avLst/>
          </a:prstGeom>
          <a:solidFill>
            <a:srgbClr val="1F3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Retriever +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Specialist Agents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(Tyre/Weather/Radio/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Rivals/Circuit/Data)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1050" y="3450000"/>
            <a:ext cx="2050000" cy="950000"/>
          </a:xfrm>
          <a:prstGeom prst="roundRect">
            <a:avLst/>
          </a:prstGeom>
          <a:solidFill>
            <a:srgbClr val="1F3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(Route • Parallel Exec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• Synthesize)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1050" y="3450000"/>
            <a:ext cx="2050000" cy="950000"/>
          </a:xfrm>
          <a:prstGeom prst="roundRect">
            <a:avLst/>
          </a:prstGeom>
          <a:solidFill>
            <a:srgbClr val="1F3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FastAPI Backend +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React Frontend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1050" y="2225000"/>
            <a:ext cx="260000" cy="0"/>
          </a:xfrm>
          <a:prstGeom prst="line">
            <a:avLst/>
          </a:prstGeom>
          <a:ln w="28575">
            <a:solidFill>
              <a:srgbClr val="1F3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41050" y="2225000"/>
            <a:ext cx="260000" cy="0"/>
          </a:xfrm>
          <a:prstGeom prst="line">
            <a:avLst/>
          </a:prstGeom>
          <a:ln w="28575">
            <a:solidFill>
              <a:srgbClr val="1F3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31050" y="3925000"/>
            <a:ext cx="260000" cy="0"/>
          </a:xfrm>
          <a:prstGeom prst="line">
            <a:avLst/>
          </a:prstGeom>
          <a:ln w="28575">
            <a:solidFill>
              <a:srgbClr val="1F3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41050" y="3925000"/>
            <a:ext cx="260000" cy="0"/>
          </a:xfrm>
          <a:prstGeom prst="line">
            <a:avLst/>
          </a:prstGeom>
          <a:ln w="28575">
            <a:solidFill>
              <a:srgbClr val="1F3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806050" y="2700000"/>
            <a:ext cx="4620000" cy="750000"/>
          </a:xfrm>
          <a:prstGeom prst="line">
            <a:avLst/>
          </a:prstGeom>
          <a:ln w="28575">
            <a:solidFill>
              <a:srgbClr val="1F3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Methodology — Tools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3775" y="1400000"/>
          <a:ext cx="10364452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6764452"/>
              </a:tblGrid>
              <a:tr h="575000">
                <a:tc>
                  <a:txBody>
                    <a:bodyPr/>
                    <a:lstStyle/>
                    <a:p>
                      <a:r>
                        <a:rPr sz="14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Tool / Library</a:t>
                      </a:r>
                    </a:p>
                  </a:txBody>
                  <a:tcPr/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400" b="0"/>
                        <a:t>Race 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FastF1 (telemetry, timing, weather, results, quali)</a:t>
                      </a:r>
                    </a:p>
                  </a:txBody>
                  <a:tcPr/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400" b="0"/>
                        <a:t>Radio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yt-dlp + faster-whisper</a:t>
                      </a:r>
                    </a:p>
                  </a:txBody>
                  <a:tcPr/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400" b="0"/>
                        <a:t>Structured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SQLite (pitwall.db)</a:t>
                      </a:r>
                    </a:p>
                  </a:txBody>
                  <a:tcPr/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400" b="0"/>
                        <a:t>Vector storage / 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ChromaDB + sentence-transformers</a:t>
                      </a:r>
                    </a:p>
                  </a:txBody>
                  <a:tcPr/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400" b="0"/>
                        <a:t>LLM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Groq API (Llama 3.3 70B for routing &amp; synthesis)</a:t>
                      </a:r>
                    </a:p>
                  </a:txBody>
                  <a:tcPr/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400" b="0"/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FastAPI, Python, uvicorn</a:t>
                      </a:r>
                    </a:p>
                  </a:txBody>
                  <a:tcPr/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400" b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React, TypeScript, Vite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 wrap="square"/>
          <a:lstStyle/>
          <a:p>
            <a:pPr/>
            <a:r>
              <a:rPr sz="2000" b="0"/>
              <a:t>Built and demonstrated a working multi-agent RAG pipeline: ingestion → hybrid storage → retrieval → specialist agents → orchestrated synthesis → API → frontend</a:t>
            </a:r>
          </a:p>
          <a:p>
            <a:pPr/>
            <a:r>
              <a:rPr sz="2000" b="0"/>
              <a:t>Deterministic SQL facts (results, standings, pit stops) are kept separate from semantic LLM reasoning, reducing hallucination risk versus a single-LLM chatbot</a:t>
            </a:r>
          </a:p>
          <a:p>
            <a:pPr/>
            <a:r>
              <a:rPr sz="2000" b="0"/>
              <a:t>Delivered a functioning FastAPI backend and React dashboard covering pre-race briefs, post-race debriefs, results, standings and free-text strategy chat</a:t>
            </a:r>
          </a:p>
          <a:p>
            <a:pPr/>
            <a:r>
              <a:rPr sz="2000" b="0"/>
              <a:t>Data coverage achieved: full 2025 F1 season (21 circuits) plus early 2026 rounds (laps, pit stops, weather, radio)</a:t>
            </a:r>
          </a:p>
          <a:p>
            <a:pPr/>
            <a:r>
              <a:rPr sz="2000" b="1"/>
              <a:t>Phase 2 outlook: live-timing integration, extended season/circuit coverage, and frontend refinement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 wrap="square"/>
          <a:lstStyle/>
          <a:p>
            <a:pPr/>
            <a:r>
              <a:rPr sz="1400" b="1"/>
              <a:t>Journal / Conference Papers</a:t>
            </a:r>
          </a:p>
          <a:p>
            <a:pPr lvl="1"/>
            <a:r>
              <a:rPr sz="1200" b="0"/>
              <a:t>[1] P. Lewis et al., “Retrieval-Augmented Generation for Knowledge-Intensive NLP Tasks,” NeurIPS, 2020.</a:t>
            </a:r>
          </a:p>
          <a:p>
            <a:pPr lvl="1"/>
            <a:r>
              <a:rPr sz="1200" b="0"/>
              <a:t>[2] “Large Language Model based Multi-Agents: A Survey of Progress and Challenges,” IJCAI, 2024.</a:t>
            </a:r>
          </a:p>
          <a:p>
            <a:pPr lvl="1"/>
            <a:r>
              <a:rPr sz="1200" b="0"/>
              <a:t>[3] “A Survey on Employing Large Language Models for Text-to-SQL Tasks,” ACM Computing Surveys, arXiv:2407.15186, 2024.</a:t>
            </a:r>
          </a:p>
          <a:p>
            <a:pPr lvl="1"/>
            <a:r>
              <a:rPr sz="1200" b="0"/>
              <a:t>[4] Massaro et al., “Explainable Time Series Prediction of Tyre Energy in Formula One Race Strategy,” ACM SAC, arXiv:2501.04067, 2025.</a:t>
            </a:r>
          </a:p>
          <a:p>
            <a:pPr lvl="1"/>
            <a:r>
              <a:rPr sz="1200" b="0"/>
              <a:t>[5] “Data-driven pit stop decision support for Formula 1 using deep learning models,” Frontiers in Artificial Intelligence, 2025.</a:t>
            </a:r>
          </a:p>
          <a:p>
            <a:pPr/>
            <a:r>
              <a:rPr sz="1400" b="1"/>
              <a:t>Web</a:t>
            </a:r>
          </a:p>
          <a:p>
            <a:pPr lvl="1"/>
            <a:r>
              <a:rPr sz="1200" b="0"/>
              <a:t>[1] FastF1, official documentation, https://docs.fastf1.dev</a:t>
            </a:r>
          </a:p>
          <a:p>
            <a:pPr lvl="1"/>
            <a:r>
              <a:rPr sz="1200" b="0"/>
              <a:t>[2] ChromaDB, official documentation, https://docs.trychroma.com</a:t>
            </a:r>
          </a:p>
          <a:p>
            <a:pPr lvl="1"/>
            <a:r>
              <a:rPr sz="1200" b="0"/>
              <a:t>[3] Groq API, official documentation, https://console.groq.com/docs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0"/>
            <a:ext cx="5727700" cy="10334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330</TotalTime>
  <Words>55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Retrospect</vt:lpstr>
      <vt:lpstr>Title of project</vt:lpstr>
      <vt:lpstr>List of contents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Susheel Kumar K [MAHE-MITBLR]</dc:creator>
  <cp:lastModifiedBy>Vamshi Krishna B [MAHE-MITBLR]</cp:lastModifiedBy>
  <cp:revision>6</cp:revision>
  <dcterms:created xsi:type="dcterms:W3CDTF">2025-02-25T17:39:52Z</dcterms:created>
  <dcterms:modified xsi:type="dcterms:W3CDTF">2026-02-02T09:40:25Z</dcterms:modified>
</cp:coreProperties>
</file>